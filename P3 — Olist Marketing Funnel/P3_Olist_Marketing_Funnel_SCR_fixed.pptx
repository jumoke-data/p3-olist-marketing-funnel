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%</c:v>
                </c:pt>
              </c:strCache>
            </c:strRef>
          </c:tx>
          <c:spPr>
            <a:solidFill>
              <a:srgbClr val="E044A7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Unknown</c:v>
                </c:pt>
                <c:pt idx="1">
                  <c:v>Paid Search</c:v>
                </c:pt>
                <c:pt idx="2">
                  <c:v>Organic Search</c:v>
                </c:pt>
                <c:pt idx="3">
                  <c:v>Direct Traffic</c:v>
                </c:pt>
                <c:pt idx="4">
                  <c:v>Referral</c:v>
                </c:pt>
                <c:pt idx="5">
                  <c:v>Social</c:v>
                </c:pt>
                <c:pt idx="6">
                  <c:v>Display</c:v>
                </c:pt>
                <c:pt idx="7">
                  <c:v>Other Publicities</c:v>
                </c:pt>
                <c:pt idx="8">
                  <c:v>Email</c:v>
                </c:pt>
                <c:pt idx="9">
                  <c:v>Other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16.29</c:v>
                </c:pt>
                <c:pt idx="1">
                  <c:v>12.3</c:v>
                </c:pt>
                <c:pt idx="2">
                  <c:v>11.8</c:v>
                </c:pt>
                <c:pt idx="3">
                  <c:v>11.22</c:v>
                </c:pt>
                <c:pt idx="4">
                  <c:v>8.4499999999999993</c:v>
                </c:pt>
                <c:pt idx="5">
                  <c:v>5.56</c:v>
                </c:pt>
                <c:pt idx="6">
                  <c:v>5.08</c:v>
                </c:pt>
                <c:pt idx="7">
                  <c:v>4.62</c:v>
                </c:pt>
                <c:pt idx="8">
                  <c:v>3.04</c:v>
                </c:pt>
                <c:pt idx="9">
                  <c:v>2.67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44-4E53-B3E3-F183229CF4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5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1296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00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E044A7">
              <a:alpha val="30000"/>
            </a:srgbClr>
          </a:solidFill>
          <a:ln w="12700">
            <a:solidFill>
              <a:srgbClr val="E044A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91440"/>
            <a:ext cx="1645920" cy="1645920"/>
          </a:xfrm>
          <a:prstGeom prst="ellipse">
            <a:avLst/>
          </a:prstGeom>
          <a:solidFill>
            <a:srgbClr val="F4C0D1">
              <a:alpha val="40000"/>
            </a:srgbClr>
          </a:solidFill>
          <a:ln w="12700">
            <a:solidFill>
              <a:srgbClr val="F4C0D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65760" y="3840480"/>
            <a:ext cx="1828800" cy="1828800"/>
          </a:xfrm>
          <a:prstGeom prst="ellipse">
            <a:avLst/>
          </a:prstGeom>
          <a:solidFill>
            <a:srgbClr val="B8B3F4">
              <a:alpha val="35000"/>
            </a:srgbClr>
          </a:solidFill>
          <a:ln w="12700">
            <a:solidFill>
              <a:srgbClr val="B8B3F4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C0D1"/>
                </a:solidFill>
              </a:rPr>
              <a:t>PORTFOLIO PROJECT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Olist Marketing Funnel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B8B3F4"/>
                </a:solidFill>
              </a:rPr>
              <a:t>Seller Acquisition Analysis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3200400" cy="36576"/>
          </a:xfrm>
          <a:prstGeom prst="rect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971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8,000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C0D1"/>
                </a:solidFill>
              </a:rPr>
              <a:t>Total Leads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971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842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0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C0D1"/>
                </a:solidFill>
              </a:rPr>
              <a:t>Converted Sellers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971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10.53%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035040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C0D1"/>
                </a:solidFill>
              </a:rPr>
              <a:t>Conversion 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3F4"/>
                </a:solidFill>
              </a:rPr>
              <a:t>Jumoke Akomolafe  |  #jumoke_data  |  Data Analytics Portfolio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SITUATION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926080" y="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C0D1"/>
                </a:solidFill>
              </a:rPr>
              <a:t>Context &amp; Business Challenge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B007B"/>
                </a:solidFill>
              </a:rPr>
              <a:t>Olist Needs to Scale Its Seller Base to Fuel Marketplace Growth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Olist is Brazil's largest e-commerce marketplace connector. While the buyer side shows strong performance (R$15.8M revenue, 99,441 orders), sustainable growth depends on continuously recruiting quality sellers. This project analyses the seller acquisition funnel, from first contact to signed deal, to understand what's working and what isn't.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697480"/>
            <a:ext cx="2651760" cy="64008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007B"/>
                </a:solidFill>
              </a:rPr>
              <a:t>The Dataset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Marketing Qualified Leads (MQL) dataset: 8,000 leads tracked from Jun 2017 to May 2018 across 10 acquisition channels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69748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697480"/>
            <a:ext cx="2651760" cy="64008"/>
          </a:xfrm>
          <a:prstGeom prst="rect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44A7"/>
                </a:solidFill>
              </a:rPr>
              <a:t>The Funnel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Leads fill a form → Olist sales reps follow up → Lead becomes a seller (closed deal). Only 842 of 8,000 made it through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69748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697480"/>
            <a:ext cx="2651760" cy="64008"/>
          </a:xfrm>
          <a:prstGeom prst="rect">
            <a:avLst/>
          </a:prstGeom>
          <a:solidFill>
            <a:srgbClr val="B8B3F4"/>
          </a:solidFill>
          <a:ln w="12700">
            <a:solidFill>
              <a:srgbClr val="B8B3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B3F4"/>
                </a:solidFill>
              </a:rPr>
              <a:t>The Link to P2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Converted sellers feed directly into the P2 orders dataset via seller_id, two sides of the same marketplace story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Jumoke Akomolafe  |  #jumoke_data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COMPLICATION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0" y="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What the Data Reveals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B007B"/>
                </a:solidFill>
              </a:rPr>
              <a:t>High Lead Volume Is Hiding a Conversion Problem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007B"/>
                </a:solidFill>
              </a:rPr>
              <a:t>89.47%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of leads never converted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7,158 leads lost in the funnel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44A7"/>
                </a:solidFill>
              </a:rPr>
              <a:t>3.04%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email conversion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Worst performing channel despite 493 leads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B3F4"/>
                </a:solidFill>
              </a:rPr>
              <a:t>5.56%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2648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social conversion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560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2nd largest channel with poor quality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154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007B"/>
                </a:solidFill>
              </a:rPr>
              <a:t>Conversion Rate by Acquisition Channel</a:t>
            </a:r>
            <a:endParaRPr lang="en-US" sz="13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65760" y="3474720"/>
          <a:ext cx="841248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Jumoke Akomolafe  |  #jumoke_data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INSIGHTS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0" y="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C0D1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007B"/>
                </a:solidFill>
              </a:rPr>
              <a:t>5 Insights That Define Olist's Seller Acquisition Story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457200" cy="914400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828800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73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07B"/>
                </a:solidFill>
              </a:rPr>
              <a:t>Volume ≠ Quality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9476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Organic Search drives the most leads (2,296) but Unknown channel converts best (16.29%). High spend on volume channels may not yield best ROI.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651760"/>
            <a:ext cx="457200" cy="914400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80360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724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07B"/>
                </a:solidFill>
              </a:rPr>
              <a:t>January 2018 Was a Turning Point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9992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Leads jumped 5x from December (200) to January (1,141), a clear marketing campaign inflection point that sustained through May 2018.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03320"/>
            <a:ext cx="457200" cy="914400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931920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776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07B"/>
                </a:solidFill>
              </a:rPr>
              <a:t>Home Decor &amp; Health Beauty Dominate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40507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Home Decor (105) and Health Beauty (93) are the top converting segments. Health Beauty also topped P2 revenue. These sellers are high value.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6002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600200"/>
            <a:ext cx="457200" cy="914400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828800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1673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07B"/>
                </a:solidFill>
              </a:rPr>
              <a:t>Online Medium Is the Sweet Spot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19476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332 of 842 converted sellers (39%) are Online Medium type. Olist's ideal seller is a mid-sized online business, not a large enterprise.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6517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651760"/>
            <a:ext cx="457200" cy="914400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880360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724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07B"/>
                </a:solidFill>
              </a:rPr>
              <a:t>Resellers Outnumber Manufacturers 2:1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29992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587 resellers vs 242 manufacturers. Olist's marketplace is built on reseller activity. Targeting manufacturers could be an untapped growth lever.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Jumoke Akomolafe  |  #jumoke_data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B00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E044A7">
              <a:alpha val="25000"/>
            </a:srgbClr>
          </a:solidFill>
          <a:ln w="12700">
            <a:solidFill>
              <a:srgbClr val="E044A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B8B3F4">
              <a:alpha val="30000"/>
            </a:srgbClr>
          </a:solidFill>
          <a:ln w="12700">
            <a:solidFill>
              <a:srgbClr val="B8B3F4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C0D1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Olist Should Do Next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54480"/>
            <a:ext cx="502920" cy="1417320"/>
          </a:xfrm>
          <a:prstGeom prst="rect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01168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664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07B"/>
                </a:solidFill>
              </a:rPr>
              <a:t>Invest More in 'Unknown' Channel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02996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With 16.29% conversion rate, identify and scale what's behind this channel. It outperforms all others on quality.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55448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554480"/>
            <a:ext cx="502920" cy="1417320"/>
          </a:xfrm>
          <a:prstGeom prst="rect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201168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1664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07B"/>
                </a:solidFill>
              </a:rPr>
              <a:t>Deprioritise Email &amp; Social for Sellers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202996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Email (3.04%) and Social (5.56%) convert poorly despite significant lead volume. Reallocate budget to higher-converting channels.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154680"/>
            <a:ext cx="502920" cy="1417320"/>
          </a:xfrm>
          <a:prstGeom prst="rect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61188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32644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07B"/>
                </a:solidFill>
              </a:rPr>
              <a:t>Target Home Decor &amp; Health Beauty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63016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These segments produce the most converted sellers AND the most revenue (per P2). Double down on outreach in these categories.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315468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3154680"/>
            <a:ext cx="502920" cy="1417320"/>
          </a:xfrm>
          <a:prstGeom prst="rect">
            <a:avLst/>
          </a:prstGeom>
          <a:solidFill>
            <a:srgbClr val="E044A7"/>
          </a:solidFill>
          <a:ln w="12700">
            <a:solidFill>
              <a:srgbClr val="E044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61188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32644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07B"/>
                </a:solidFill>
              </a:rPr>
              <a:t>Build Campaigns for Online Medium Sellers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4960" y="363016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39% of all conversions come from this profile. Create tailored onboarding and incentives for mid-sized online businesses.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3F4"/>
                </a:solidFill>
              </a:rPr>
              <a:t>Jumoke Akomolafe  |  #jumoke_data  |  Data Analytics Portfolio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5901</TotalTime>
  <Words>563</Words>
  <Application>Microsoft Office PowerPoint</Application>
  <PresentationFormat>On-screen Show (16:9)</PresentationFormat>
  <Paragraphs>74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Marketing Funnel: Seller Acquisition Analysis</dc:title>
  <dc:subject>PptxGenJS Presentation</dc:subject>
  <dc:creator>PptxGenJS</dc:creator>
  <cp:lastModifiedBy>Jumoke Akomolafe</cp:lastModifiedBy>
  <cp:revision>1</cp:revision>
  <dcterms:created xsi:type="dcterms:W3CDTF">2026-05-14T07:34:34Z</dcterms:created>
  <dcterms:modified xsi:type="dcterms:W3CDTF">2026-05-18T10:07:50Z</dcterms:modified>
</cp:coreProperties>
</file>